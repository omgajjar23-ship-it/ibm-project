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90" r:id="rId1"/>
  </p:sldMasterIdLst>
  <p:notesMasterIdLst>
    <p:notesMasterId r:id="rId13"/>
  </p:notesMasterIdLst>
  <p:sldIdLst>
    <p:sldId id="256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33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EE08D-F191-4E9C-8E86-72E5356E37A3}" type="datetimeFigureOut">
              <a:rPr lang="en-IN" smtClean="0"/>
              <a:pPr/>
              <a:t>01-05-2026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07AF4D-60EB-4486-BADE-57956E9D758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261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E25B-77BF-40EA-A823-36D70918531E}" type="datetime1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C98E-8DF6-40FE-826F-CB1B1EDB4BCF}" type="datetime1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63B4-660A-41F0-A11E-171BAF37F93B}" type="datetime1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2DD08-ECCF-4EB1-9CDB-9546FD1134A1}" type="datetime1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6397C-0633-497C-8DE7-A170D71BB31F}" type="datetime1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6A92C-581C-4166-A821-E1478F39A9CF}" type="datetime1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7E24D-7DD7-4BF6-A350-C71530AC5CB9}" type="datetime1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D4BE-6ED8-4371-A88E-21ED0B8BD298}" type="datetime1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8B184-342D-47D7-B8CB-E691371E8C9B}" type="datetime1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76831-3D76-4722-873D-3A920D22D70C}" type="datetime1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1"/>
            <a:ext cx="36576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1"/>
            <a:ext cx="10769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41A33-5268-4F7D-AE12-712A52A217CA}" type="datetime1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CE40D-2BFC-40CA-B588-343EF5AAF5D8}" type="datetime1">
              <a:rPr lang="en-US" smtClean="0"/>
              <a:pPr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4378" y="1458618"/>
            <a:ext cx="11379200" cy="43860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IBM Project Presentation </a:t>
            </a:r>
            <a:br>
              <a:rPr lang="en-US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on </a:t>
            </a:r>
            <a:br>
              <a:rPr lang="en-US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US" sz="18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“</a:t>
            </a:r>
            <a:r>
              <a:rPr lang="en-IN" sz="1800" b="1" dirty="0">
                <a:solidFill>
                  <a:schemeClr val="tx1"/>
                </a:solidFill>
                <a:latin typeface="+mj-lt"/>
              </a:rPr>
              <a:t>Income Insight – Decision Intelligence Platform</a:t>
            </a:r>
            <a:r>
              <a:rPr lang="en-US" sz="18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”</a:t>
            </a:r>
            <a:endParaRPr lang="en-US" sz="1600" b="1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By</a:t>
            </a:r>
          </a:p>
          <a:p>
            <a:r>
              <a:rPr lang="en-US" sz="2400" b="1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Group ID: G08</a:t>
            </a:r>
          </a:p>
          <a:p>
            <a:r>
              <a:rPr lang="en-US" sz="2000" b="1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Team Members Name &amp; Enrollment No:</a:t>
            </a:r>
          </a:p>
          <a:p>
            <a:r>
              <a:rPr lang="en-IN" sz="20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Gadhavi Nimesh  (22162121004) | Shivam Brahmbhatt(23162582012) | Om Gajjar (23162172002)</a:t>
            </a:r>
            <a:endParaRPr lang="en-US" sz="16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Under the guidance of</a:t>
            </a:r>
          </a:p>
          <a:p>
            <a:r>
              <a:rPr lang="en-IN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Prof. Dhaval </a:t>
            </a:r>
            <a:r>
              <a:rPr lang="en-IN" sz="2400" dirty="0" err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Sathawara</a:t>
            </a:r>
            <a:r>
              <a:rPr lang="en-IN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  (Internal) | Anoj Dixit (External)</a:t>
            </a:r>
          </a:p>
          <a:p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Institute of Computer Technology, Ganpat University</a:t>
            </a:r>
          </a:p>
          <a:p>
            <a:r>
              <a:rPr lang="en-US" sz="24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Date: 01 May 2026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669" y="266086"/>
            <a:ext cx="4392177" cy="11925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783771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Table of Contents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54730"/>
            <a:ext cx="10972800" cy="3786159"/>
          </a:xfrm>
        </p:spPr>
        <p:txBody>
          <a:bodyPr>
            <a:noAutofit/>
          </a:bodyPr>
          <a:lstStyle/>
          <a:p>
            <a:r>
              <a:rPr lang="en-IN" sz="2500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  <a:p>
            <a:pPr lvl="1"/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Scope </a:t>
            </a:r>
          </a:p>
          <a:p>
            <a:pPr lvl="1"/>
            <a:r>
              <a:rPr lang="en-IN" sz="2100" dirty="0">
                <a:latin typeface="Arial" panose="020B0604020202020204" pitchFamily="34" charset="0"/>
                <a:cs typeface="Arial" panose="020B0604020202020204" pitchFamily="34" charset="0"/>
              </a:rPr>
              <a:t>Goals / Objectives </a:t>
            </a:r>
          </a:p>
          <a:p>
            <a:r>
              <a:rPr lang="en-IN" sz="2500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  <a:p>
            <a:r>
              <a:rPr lang="en-IN" sz="2500" dirty="0">
                <a:latin typeface="Arial" panose="020B0604020202020204" pitchFamily="34" charset="0"/>
                <a:cs typeface="Arial" panose="020B0604020202020204" pitchFamily="34" charset="0"/>
              </a:rPr>
              <a:t>Feasibility Study</a:t>
            </a:r>
          </a:p>
          <a:p>
            <a:r>
              <a:rPr lang="en-IN" sz="2500" dirty="0">
                <a:latin typeface="Arial" panose="020B0604020202020204" pitchFamily="34" charset="0"/>
                <a:cs typeface="Arial" panose="020B0604020202020204" pitchFamily="34" charset="0"/>
              </a:rPr>
              <a:t>Recommended Approach</a:t>
            </a:r>
          </a:p>
          <a:p>
            <a:r>
              <a:rPr lang="en-IN" sz="2500" dirty="0">
                <a:latin typeface="Arial" panose="020B0604020202020204" pitchFamily="34" charset="0"/>
                <a:cs typeface="Arial" panose="020B0604020202020204" pitchFamily="34" charset="0"/>
              </a:rPr>
              <a:t>Recommended Tools &amp; Technologies</a:t>
            </a:r>
          </a:p>
          <a:p>
            <a:r>
              <a:rPr lang="en-IN" sz="2500" dirty="0">
                <a:latin typeface="Arial" panose="020B0604020202020204" pitchFamily="34" charset="0"/>
                <a:cs typeface="Arial" panose="020B0604020202020204" pitchFamily="34" charset="0"/>
              </a:rPr>
              <a:t>Doubts / Query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82CC3-839A-4CF4-843A-7DCB85BB12E8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5/1/2026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02E1F-EC77-3D72-8273-2303F22F5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7B9DC-AF0B-B7D0-DC17-84927FAA6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9154"/>
            <a:ext cx="10972800" cy="783771"/>
          </a:xfrm>
        </p:spPr>
        <p:txBody>
          <a:bodyPr/>
          <a:lstStyle/>
          <a:p>
            <a:r>
              <a:rPr lang="en-IN" b="1" dirty="0"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C7C5E-B7A7-48C6-BC28-1B6873373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09917"/>
            <a:ext cx="10972800" cy="4847043"/>
          </a:xfrm>
        </p:spPr>
        <p:txBody>
          <a:bodyPr>
            <a:noAutofit/>
          </a:bodyPr>
          <a:lstStyle/>
          <a:p>
            <a:r>
              <a:rPr lang="en-IN" sz="2800" b="1" dirty="0"/>
              <a:t>Inefficiency in Manual Processing: </a:t>
            </a:r>
            <a:r>
              <a:rPr lang="en-US" sz="2800" dirty="0"/>
              <a:t>Traditional financial screening is slow, manual, and susceptible to cognitive bias by loan officers.</a:t>
            </a:r>
          </a:p>
          <a:p>
            <a:r>
              <a:rPr lang="en-US" sz="2800" b="1" dirty="0"/>
              <a:t>The "Credit Gap":</a:t>
            </a:r>
            <a:r>
              <a:rPr lang="en-US" sz="2800" dirty="0"/>
              <a:t> High-potential individuals are often denied services because legacy systems cannot interpret complex socio-economic patterns.</a:t>
            </a:r>
          </a:p>
          <a:p>
            <a:r>
              <a:rPr lang="en-US" sz="2800" b="1" dirty="0"/>
              <a:t>High Default Risk:</a:t>
            </a:r>
            <a:r>
              <a:rPr lang="en-US" sz="2800" dirty="0"/>
              <a:t> Without intelligent prediction, institutions struggle to identify individuals likely to experience financial instability.</a:t>
            </a:r>
          </a:p>
          <a:p>
            <a:r>
              <a:rPr lang="en-US" sz="2800" b="1" dirty="0"/>
              <a:t>Complexity of Data:</a:t>
            </a:r>
            <a:r>
              <a:rPr lang="en-US" sz="2800" dirty="0"/>
              <a:t> Financial data is non-linear; simple spreadsheets cannot capture the relationship between age, education, and marital status.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5814E-4D87-E724-C135-68A434158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82CC3-839A-4CF4-843A-7DCB85BB12E8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5/1/2026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CD2D23-F167-A93E-75BA-50B875849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725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213FC-8B82-C7F4-39DB-524582E57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4EC90-45CB-051A-8501-1E05FCA70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9154"/>
            <a:ext cx="10972800" cy="783771"/>
          </a:xfrm>
        </p:spPr>
        <p:txBody>
          <a:bodyPr/>
          <a:lstStyle/>
          <a:p>
            <a:r>
              <a:rPr lang="en-IN" b="1" dirty="0"/>
              <a:t>Goals / Objectives</a:t>
            </a:r>
            <a:endParaRPr lang="en-IN" b="1" dirty="0"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5C5E1-2D67-F8BD-6071-4B4E30442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09917"/>
            <a:ext cx="10972800" cy="4847043"/>
          </a:xfrm>
        </p:spPr>
        <p:txBody>
          <a:bodyPr>
            <a:noAutofit/>
          </a:bodyPr>
          <a:lstStyle/>
          <a:p>
            <a:r>
              <a:rPr lang="en-US" sz="2800" b="1" dirty="0"/>
              <a:t>Primary Goal:</a:t>
            </a:r>
            <a:r>
              <a:rPr lang="en-US" sz="2800" dirty="0"/>
              <a:t> To bridge the gap between raw census data and actionable financial intelligence.</a:t>
            </a:r>
          </a:p>
          <a:p>
            <a:r>
              <a:rPr lang="en-US" sz="2800" b="1" dirty="0"/>
              <a:t>Classification Task:</a:t>
            </a:r>
            <a:r>
              <a:rPr lang="en-US" sz="2800" dirty="0"/>
              <a:t> Predict whether an individual earns more or less than $50k/year with high precision.</a:t>
            </a:r>
          </a:p>
          <a:p>
            <a:r>
              <a:rPr lang="en-US" sz="2800" b="1" dirty="0"/>
              <a:t>System Integrity:</a:t>
            </a:r>
            <a:r>
              <a:rPr lang="en-US" sz="2800" dirty="0"/>
              <a:t> Build a secure, full-stack environment where data is encrypted and user access is managed.</a:t>
            </a:r>
          </a:p>
          <a:p>
            <a:r>
              <a:rPr lang="en-US" sz="2800" b="1" dirty="0"/>
              <a:t>Transparency (XAI):</a:t>
            </a:r>
            <a:r>
              <a:rPr lang="en-US" sz="2800" dirty="0"/>
              <a:t> Ensure the model isn't a "black box"—implementing Explainable AI to show </a:t>
            </a:r>
            <a:r>
              <a:rPr lang="en-US" sz="2800" i="1" dirty="0"/>
              <a:t>why</a:t>
            </a:r>
            <a:r>
              <a:rPr lang="en-US" sz="2800" dirty="0"/>
              <a:t> a decision was made.</a:t>
            </a:r>
          </a:p>
          <a:p>
            <a:r>
              <a:rPr lang="en-US" sz="2800" b="1" dirty="0"/>
              <a:t>Scalability:</a:t>
            </a:r>
            <a:r>
              <a:rPr lang="en-US" sz="2800" dirty="0"/>
              <a:t> Design the platform to handle increasing amounts of data without performance degradation.</a:t>
            </a:r>
            <a:endParaRPr lang="en-US" sz="2800" dirty="0"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9C6DC-5630-0F09-AD53-41C03024F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82CC3-839A-4CF4-843A-7DCB85BB12E8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5/1/2026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B24439-C7D5-6956-3A6F-391C7B681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530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F2263-D46B-2B08-BBFA-A490F6D24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9AB28-FCF4-5F0C-6942-490090A7B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9154"/>
            <a:ext cx="10972800" cy="783771"/>
          </a:xfrm>
        </p:spPr>
        <p:txBody>
          <a:bodyPr/>
          <a:lstStyle/>
          <a:p>
            <a:r>
              <a:rPr lang="en-IN" b="1" dirty="0"/>
              <a:t>Scope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027B7-3F4E-0653-C976-B86ED1BAC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82CC3-839A-4CF4-843A-7DCB85BB12E8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5/1/2026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4DC3BB-06DF-78DA-78EA-64502BB21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2904F30D-B31B-21BC-825B-505E08A1F3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1" y="1532405"/>
            <a:ext cx="109728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/>
              <a:t>Data Lifecycle:</a:t>
            </a:r>
            <a:r>
              <a:rPr lang="en-US" sz="2800" dirty="0"/>
              <a:t> Detailed ETL (Extract, Transform, Load) process focusing on the UCI Adult Census Income dataset.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/>
              <a:t>Feature Engineering:</a:t>
            </a:r>
            <a:r>
              <a:rPr lang="en-US" sz="2800" dirty="0"/>
              <a:t> Advanced pre-processing including One-Hot Encoding, scaling of continuous variables, and handling imbalance.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/>
              <a:t>Development Layer:</a:t>
            </a:r>
            <a:r>
              <a:rPr lang="en-US" sz="2800" dirty="0"/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 Backend: RESTful API development for model serving.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Frontend: Interactive dashboard for data visualization and "what-if" testing.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/>
              <a:t>Security &amp; DevOps:</a:t>
            </a:r>
            <a:r>
              <a:rPr lang="en-US" sz="2800" dirty="0"/>
              <a:t> Implementation of JWT, </a:t>
            </a:r>
            <a:r>
              <a:rPr lang="en-US" sz="2800" dirty="0" err="1"/>
              <a:t>Dockerization</a:t>
            </a:r>
            <a:r>
              <a:rPr lang="en-US" sz="2800" dirty="0"/>
              <a:t> for environment consistency, and CI/CD pipelines.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25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C1162-A402-A5C7-4D0E-19DA35A8C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F711C-7ADC-610F-AE38-0CDBE25D55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0"/>
            <a:ext cx="10363200" cy="1470025"/>
          </a:xfrm>
        </p:spPr>
        <p:txBody>
          <a:bodyPr/>
          <a:lstStyle/>
          <a:p>
            <a:r>
              <a:rPr lang="en-IN" b="1" dirty="0">
                <a:cs typeface="Arial" panose="020B0604020202020204" pitchFamily="34" charset="0"/>
              </a:rPr>
              <a:t>Background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0F312-4418-6B98-8806-CEE3531AB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82CC3-839A-4CF4-843A-7DCB85BB12E8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5/1/2026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6A9DFD-EA9B-0CFF-4C04-FDA185BC8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ADA2D79-4332-CF2D-6C98-E9E043B175E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9600" y="2562258"/>
            <a:ext cx="109728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l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Industry Context:</a:t>
            </a:r>
            <a:r>
              <a:rPr lang="en-US" sz="2800" dirty="0">
                <a:solidFill>
                  <a:schemeClr val="tx1"/>
                </a:solidFill>
              </a:rPr>
              <a:t> FinTech is moving toward "Decision Intelligence" where AI assists human decision-making rather than just providing raw data.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l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Technological Foundation:</a:t>
            </a:r>
            <a:r>
              <a:rPr lang="en-US" sz="2800" dirty="0">
                <a:solidFill>
                  <a:schemeClr val="tx1"/>
                </a:solidFill>
              </a:rPr>
              <a:t> Built upon state-of-the-art Supervised Learning algorithms that are benchmarked for financial classification.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645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AE8E6-C594-9A32-79B0-327EDCA07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ABF89-A08F-0BEF-3230-CB9FEF3B4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0"/>
            <a:ext cx="10363200" cy="1470025"/>
          </a:xfrm>
        </p:spPr>
        <p:txBody>
          <a:bodyPr/>
          <a:lstStyle/>
          <a:p>
            <a:r>
              <a:rPr lang="en-IN" b="1" dirty="0">
                <a:cs typeface="Arial" panose="020B0604020202020204" pitchFamily="34" charset="0"/>
              </a:rPr>
              <a:t>Feasibility Study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DAC25-E515-4AC3-494B-71B9E1463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82CC3-839A-4CF4-843A-7DCB85BB12E8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5/1/2026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87971-78AF-2971-922A-F905A1DB7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313FC32-D1ED-A8EF-6707-2F21B40D1D5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9600" y="2042300"/>
            <a:ext cx="10972800" cy="3711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Technical Feasibility:</a:t>
            </a:r>
            <a:r>
              <a:rPr lang="en-US" sz="2800" dirty="0">
                <a:solidFill>
                  <a:schemeClr val="tx1"/>
                </a:solidFill>
              </a:rPr>
              <a:t> Python’s Scikit-learn and </a:t>
            </a:r>
            <a:r>
              <a:rPr lang="en-US" sz="2800" dirty="0" err="1">
                <a:solidFill>
                  <a:schemeClr val="tx1"/>
                </a:solidFill>
              </a:rPr>
              <a:t>XGBoost</a:t>
            </a:r>
            <a:r>
              <a:rPr lang="en-US" sz="2800" dirty="0">
                <a:solidFill>
                  <a:schemeClr val="tx1"/>
                </a:solidFill>
              </a:rPr>
              <a:t> libraries provide the heavy lifting for computation, while React ensures a modern UI.</a:t>
            </a: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Economic Feasibility:</a:t>
            </a:r>
            <a:r>
              <a:rPr lang="en-US" sz="2800" dirty="0">
                <a:solidFill>
                  <a:schemeClr val="tx1"/>
                </a:solidFill>
              </a:rPr>
              <a:t> The use of Open Source software (Vite, Tailwind, </a:t>
            </a:r>
            <a:r>
              <a:rPr lang="en-US" sz="2800" dirty="0" err="1">
                <a:solidFill>
                  <a:schemeClr val="tx1"/>
                </a:solidFill>
              </a:rPr>
              <a:t>FastAPI</a:t>
            </a:r>
            <a:r>
              <a:rPr lang="en-US" sz="2800" dirty="0">
                <a:solidFill>
                  <a:schemeClr val="tx1"/>
                </a:solidFill>
              </a:rPr>
              <a:t>) eliminates licensing costs, making the solution affordable for smaller credit unions.</a:t>
            </a:r>
            <a:endParaRPr lang="en-US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</a:rPr>
              <a:t>Operational Feasibility:</a:t>
            </a:r>
            <a:r>
              <a:rPr lang="en-US" sz="2800" dirty="0">
                <a:solidFill>
                  <a:schemeClr val="tx1"/>
                </a:solidFill>
              </a:rPr>
              <a:t> The system is designed with a low learning curve; a bank clerk with basic computer knowledge can operate the prediction dashboard.</a:t>
            </a:r>
          </a:p>
        </p:txBody>
      </p:sp>
    </p:spTree>
    <p:extLst>
      <p:ext uri="{BB962C8B-B14F-4D97-AF65-F5344CB8AC3E}">
        <p14:creationId xmlns:p14="http://schemas.microsoft.com/office/powerpoint/2010/main" val="3129335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8F37E-09ED-0176-2E1C-5D74CB493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9665E-9A0D-CDE6-DB49-D92F82ABE0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0"/>
            <a:ext cx="10363200" cy="1470025"/>
          </a:xfrm>
        </p:spPr>
        <p:txBody>
          <a:bodyPr/>
          <a:lstStyle/>
          <a:p>
            <a:r>
              <a:rPr lang="en-IN" b="1" dirty="0">
                <a:cs typeface="Arial" panose="020B0604020202020204" pitchFamily="34" charset="0"/>
              </a:rPr>
              <a:t>Recommended Approach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44879-7F13-D8B5-9C63-1F0DC5A54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82CC3-839A-4CF4-843A-7DCB85BB12E8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5/1/2026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E77378-2603-2F90-5EDE-1FB1D72C6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4D7F1E5-4159-1E4F-1DCF-A78289FB5A0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9600" y="1798764"/>
            <a:ext cx="10972800" cy="4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l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Multi-Tier Architecture: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1. </a:t>
            </a:r>
            <a:r>
              <a:rPr lang="en-IN" b="1" dirty="0">
                <a:solidFill>
                  <a:schemeClr val="tx1"/>
                </a:solidFill>
              </a:rPr>
              <a:t>Presentation Tier:</a:t>
            </a:r>
            <a:r>
              <a:rPr lang="en-IN" dirty="0">
                <a:solidFill>
                  <a:schemeClr val="tx1"/>
                </a:solidFill>
              </a:rPr>
              <a:t> React/Vite for a fast, responsive interface. 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2. </a:t>
            </a:r>
            <a:r>
              <a:rPr lang="en-IN" b="1" dirty="0">
                <a:solidFill>
                  <a:schemeClr val="tx1"/>
                </a:solidFill>
              </a:rPr>
              <a:t>Logic Tier:</a:t>
            </a:r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dirty="0" err="1">
                <a:solidFill>
                  <a:schemeClr val="tx1"/>
                </a:solidFill>
              </a:rPr>
              <a:t>FastAPI</a:t>
            </a:r>
            <a:r>
              <a:rPr lang="en-IN" dirty="0">
                <a:solidFill>
                  <a:schemeClr val="tx1"/>
                </a:solidFill>
              </a:rPr>
              <a:t>/Flask handling the ML model inference. 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3. </a:t>
            </a:r>
            <a:r>
              <a:rPr lang="en-IN" b="1" dirty="0">
                <a:solidFill>
                  <a:schemeClr val="tx1"/>
                </a:solidFill>
              </a:rPr>
              <a:t>Data Tier:</a:t>
            </a:r>
            <a:r>
              <a:rPr lang="en-IN" dirty="0">
                <a:solidFill>
                  <a:schemeClr val="tx1"/>
                </a:solidFill>
              </a:rPr>
              <a:t> Secure storage for user profiles and audit logs.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l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The ML Workflow: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Handling missing values and outliers.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Selecting features with high correlation to income levels.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Training multiple models (Random Forest, </a:t>
            </a:r>
            <a:r>
              <a:rPr lang="en-US" dirty="0" err="1">
                <a:solidFill>
                  <a:schemeClr val="tx1"/>
                </a:solidFill>
              </a:rPr>
              <a:t>XGBoost</a:t>
            </a:r>
            <a:r>
              <a:rPr lang="en-US" dirty="0">
                <a:solidFill>
                  <a:schemeClr val="tx1"/>
                </a:solidFill>
              </a:rPr>
              <a:t>, SVM) and selecting the champion model.</a:t>
            </a:r>
          </a:p>
        </p:txBody>
      </p:sp>
    </p:spTree>
    <p:extLst>
      <p:ext uri="{BB962C8B-B14F-4D97-AF65-F5344CB8AC3E}">
        <p14:creationId xmlns:p14="http://schemas.microsoft.com/office/powerpoint/2010/main" val="1120807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38653-3CFF-CF4C-D027-31F65A2DE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289FE-338B-FBF9-2CDC-8891002A8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cs typeface="Arial" panose="020B0604020202020204" pitchFamily="34" charset="0"/>
              </a:rPr>
              <a:t>Tools &amp; Technologies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B7C70-4527-DD4F-F094-3D06B163F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C98E-8DF6-40FE-826F-CB1B1EDB4BCF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5/1/2026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79287E-AABD-3001-F64C-834F19DB2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5B8FCFF-FDB1-D8CD-2F0A-CD6784D2F6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1713972"/>
            <a:ext cx="109728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/>
              <a:t>Frontend Ecosystem:</a:t>
            </a:r>
            <a:r>
              <a:rPr lang="en-US" sz="2400" dirty="0"/>
              <a:t> React.js for components, Tailwind CSS for styling, and Recharts for dynamic financial graphing.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24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b="1" dirty="0"/>
              <a:t>Data Science Stack:</a:t>
            </a:r>
            <a:r>
              <a:rPr lang="en-IN" sz="2400" dirty="0"/>
              <a:t> Python 3.10, Pandas (Data Manipulation), Scikit-learn (Algorithms), and </a:t>
            </a:r>
            <a:r>
              <a:rPr lang="en-IN" sz="2400" dirty="0" err="1"/>
              <a:t>Joblib</a:t>
            </a:r>
            <a:r>
              <a:rPr lang="en-IN" sz="2400" dirty="0"/>
              <a:t> (Model Serialization).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/>
              <a:t>Backend &amp; Security:</a:t>
            </a:r>
            <a:r>
              <a:rPr lang="en-US" sz="2400" dirty="0"/>
              <a:t> </a:t>
            </a:r>
            <a:r>
              <a:rPr lang="en-US" sz="2400" dirty="0" err="1"/>
              <a:t>FastAPI</a:t>
            </a:r>
            <a:r>
              <a:rPr lang="en-US" sz="2400" dirty="0"/>
              <a:t> (Speed/Asynchronous support), JWT (User Authentication), and </a:t>
            </a:r>
            <a:r>
              <a:rPr lang="en-US" sz="2400" dirty="0" err="1"/>
              <a:t>Passlib</a:t>
            </a:r>
            <a:r>
              <a:rPr lang="en-US" sz="2400" dirty="0"/>
              <a:t> (Password hashing).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/>
              <a:t>Infrastructure:</a:t>
            </a:r>
            <a:r>
              <a:rPr lang="en-US" sz="2400" dirty="0"/>
              <a:t> GitHub for version control and Docker for containerization.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998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6A4EC-CB83-6008-64F3-3A248AB2B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B4A1B-549E-2810-968C-0F46931CE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5ECAB-73B9-BDE0-934C-19FB9F209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C98E-8DF6-40FE-826F-CB1B1EDB4BCF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5/1/2026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F087DA-F73D-8FC7-FFC2-4784FB923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5514C71-FE10-7402-5375-01244743AA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0400" y="2936173"/>
            <a:ext cx="10871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 err="1"/>
              <a:t>Géron</a:t>
            </a:r>
            <a:r>
              <a:rPr lang="en-US" sz="1800" dirty="0"/>
              <a:t>, A. "Hands-On Machine Learning with Scikit-Learn, </a:t>
            </a:r>
            <a:r>
              <a:rPr lang="en-US" sz="1800" dirty="0" err="1"/>
              <a:t>Keras</a:t>
            </a:r>
            <a:r>
              <a:rPr lang="en-US" sz="1800" dirty="0"/>
              <a:t>, and TensorFlow.“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UCI Machine Learning Repository: Adult Census Income Dataset.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800" dirty="0"/>
              <a:t>Official documentation: </a:t>
            </a:r>
            <a:r>
              <a:rPr lang="en-IN" sz="1800" dirty="0" err="1"/>
              <a:t>React.dev</a:t>
            </a:r>
            <a:r>
              <a:rPr lang="en-IN" sz="1800" dirty="0"/>
              <a:t>, FastAPI.tiangolo.com.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800" dirty="0"/>
              <a:t>IEEE papers on "Decision Intelligence in Financial Services."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812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338408"/>
            <a:ext cx="10972800" cy="218118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11500" dirty="0">
                <a:latin typeface="Arial" panose="020B0604020202020204" pitchFamily="34" charset="0"/>
                <a:cs typeface="Arial" panose="020B0604020202020204" pitchFamily="34" charset="0"/>
              </a:rPr>
              <a:t>Thank You !!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C98E-8DF6-40FE-826F-CB1B1EDB4BCF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5/1/2026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11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456</TotalTime>
  <Words>718</Words>
  <Application>Microsoft Office PowerPoint</Application>
  <PresentationFormat>Widescreen</PresentationFormat>
  <Paragraphs>86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Table of Contents</vt:lpstr>
      <vt:lpstr>Problem Statement</vt:lpstr>
      <vt:lpstr>Goals / Objectives</vt:lpstr>
      <vt:lpstr>Scope</vt:lpstr>
      <vt:lpstr>Background</vt:lpstr>
      <vt:lpstr>Feasibility Study</vt:lpstr>
      <vt:lpstr>Recommended Approach</vt:lpstr>
      <vt:lpstr>Tools &amp; Technologies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Lalit Panwar</dc:creator>
  <cp:lastModifiedBy>Om Gajjar</cp:lastModifiedBy>
  <cp:revision>69</cp:revision>
  <dcterms:created xsi:type="dcterms:W3CDTF">2017-12-29T08:33:53Z</dcterms:created>
  <dcterms:modified xsi:type="dcterms:W3CDTF">2026-04-30T18:57:01Z</dcterms:modified>
</cp:coreProperties>
</file>